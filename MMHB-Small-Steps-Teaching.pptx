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e3c00f68f64cee" /><Relationship Type="http://schemas.openxmlformats.org/officeDocument/2006/relationships/extended-properties" Target="/docProps/app.xml" Id="R87051c6a71274a7f" /><Relationship Type="http://schemas.openxmlformats.org/officeDocument/2006/relationships/officeDocument" Target="/ppt/presentation.xml" Id="Rf1e61eb818be4f35" /></Relationships>
</file>

<file path=ppt/presentation.xml><?xml version="1.0" encoding="utf-8"?>
<p:presentation xmlns:p="http://schemas.openxmlformats.org/presentationml/2006/main">
  <p:sldMasterIdLst>
    <p:sldMasterId xmlns:r="http://schemas.openxmlformats.org/officeDocument/2006/relationships" id="2147483648" r:id="Rea740f380f31403c"/>
  </p:sldMasterIdLst>
  <p:notesMasterIdLst>
    <p:notesMasterId xmlns:r="http://schemas.openxmlformats.org/officeDocument/2006/relationships" r:id="R920efcc47dae4dab"/>
  </p:notesMasterIdLst>
  <p:sldIdLst>
    <p:sldId xmlns:r="http://schemas.openxmlformats.org/officeDocument/2006/relationships" id="256" r:id="R4acc6a153c94451e"/>
    <p:sldId xmlns:r="http://schemas.openxmlformats.org/officeDocument/2006/relationships" id="257" r:id="R46fcc0a9d6e544bb"/>
    <p:sldId xmlns:r="http://schemas.openxmlformats.org/officeDocument/2006/relationships" id="258" r:id="R63ee788860eb4eaf"/>
    <p:sldId xmlns:r="http://schemas.openxmlformats.org/officeDocument/2006/relationships" id="259" r:id="R5170566dd0a14b29"/>
    <p:sldId xmlns:r="http://schemas.openxmlformats.org/officeDocument/2006/relationships" id="260" r:id="R78c2ded9b2b64f48"/>
    <p:sldId xmlns:r="http://schemas.openxmlformats.org/officeDocument/2006/relationships" id="261" r:id="R36ea918187134033"/>
    <p:sldId xmlns:r="http://schemas.openxmlformats.org/officeDocument/2006/relationships" id="262" r:id="R0186ac157d7d4dbd"/>
    <p:sldId xmlns:r="http://schemas.openxmlformats.org/officeDocument/2006/relationships" id="263" r:id="R7c5fb81745fc40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85cdac36c947b2" /><Relationship Type="http://schemas.openxmlformats.org/officeDocument/2006/relationships/slideMaster" Target="/ppt/slideMasters/slideMaster1.xml" Id="Rea740f380f31403c" /><Relationship Type="http://schemas.openxmlformats.org/officeDocument/2006/relationships/notesMaster" Target="/ppt/notesMasters/notesMaster1.xml" Id="R920efcc47dae4dab" /><Relationship Type="http://schemas.openxmlformats.org/officeDocument/2006/relationships/presProps" Target="/ppt/presProps.xml" Id="R2d4696590ea64e95" /><Relationship Type="http://schemas.openxmlformats.org/officeDocument/2006/relationships/tableStyles" Target="/ppt/tableStyles.xml" Id="R058925eb5d8f4616" /><Relationship Type="http://schemas.openxmlformats.org/officeDocument/2006/relationships/slide" Target="/ppt/slides/slide1.xml" Id="R4acc6a153c94451e" /><Relationship Type="http://schemas.openxmlformats.org/officeDocument/2006/relationships/slide" Target="/ppt/slides/slide2.xml" Id="R46fcc0a9d6e544bb" /><Relationship Type="http://schemas.openxmlformats.org/officeDocument/2006/relationships/slide" Target="/ppt/slides/slide3.xml" Id="R63ee788860eb4eaf" /><Relationship Type="http://schemas.openxmlformats.org/officeDocument/2006/relationships/slide" Target="/ppt/slides/slide4.xml" Id="R5170566dd0a14b29" /><Relationship Type="http://schemas.openxmlformats.org/officeDocument/2006/relationships/slide" Target="/ppt/slides/slide5.xml" Id="R78c2ded9b2b64f48" /><Relationship Type="http://schemas.openxmlformats.org/officeDocument/2006/relationships/slide" Target="/ppt/slides/slide6.xml" Id="R36ea918187134033" /><Relationship Type="http://schemas.openxmlformats.org/officeDocument/2006/relationships/slide" Target="/ppt/slides/slide7.xml" Id="R0186ac157d7d4dbd" /><Relationship Type="http://schemas.openxmlformats.org/officeDocument/2006/relationships/slide" Target="/ppt/slides/slide8.xml" Id="R7c5fb81745fc40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2785776a4f46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c77142c0134ae4" /><Relationship Type="http://schemas.openxmlformats.org/officeDocument/2006/relationships/notesMaster" Target="/ppt/notesMasters/notesMaster1.xml" Id="R02f4e43e733841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d85fa00b4949af" /><Relationship Type="http://schemas.openxmlformats.org/officeDocument/2006/relationships/notesMaster" Target="/ppt/notesMasters/notesMaster1.xml" Id="R064d452c35c543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563cba157f4b4e" /><Relationship Type="http://schemas.openxmlformats.org/officeDocument/2006/relationships/notesMaster" Target="/ppt/notesMasters/notesMaster1.xml" Id="R458a9f49d1ce4b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b449432c344f2e" /><Relationship Type="http://schemas.openxmlformats.org/officeDocument/2006/relationships/notesMaster" Target="/ppt/notesMasters/notesMaster1.xml" Id="R867d903cb9004a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c3ff6406134979" /><Relationship Type="http://schemas.openxmlformats.org/officeDocument/2006/relationships/notesMaster" Target="/ppt/notesMasters/notesMaster1.xml" Id="R7fe33cb332314e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cfdd47b12043bc" /><Relationship Type="http://schemas.openxmlformats.org/officeDocument/2006/relationships/notesMaster" Target="/ppt/notesMasters/notesMaster1.xml" Id="R53ae7c58a7654f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b5dd4475dd415b" /><Relationship Type="http://schemas.openxmlformats.org/officeDocument/2006/relationships/notesMaster" Target="/ppt/notesMasters/notesMaster1.xml" Id="R84dd76be265541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80d378cd854702" /><Relationship Type="http://schemas.openxmlformats.org/officeDocument/2006/relationships/notesMaster" Target="/ppt/notesMasters/notesMaster1.xml" Id="R859921efe49745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invite participants to listen without sharing personal experiences. This is general adult education, not individual care. The exercises are original teaching examples informed by the source overviews.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National Institute of Mental Health. Caring for Your Mental Health. Reviewed April 2026. Accessed September 12, 2026. https://www.nimh.nih.gov/health/topics/caring-for-your-mental-health</a:t>
            </a:r>
          </a:p>
          <a:p xmlns:a="http://schemas.openxmlformats.org/drawingml/2006/main">
            <a:r>
              <a:t>Teach: a goal sets a direction. A next step names an action. Invite an ordinary example, such as tidying a desk. Do not promise that a small task will relieve symptoms.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National Institute of Mental Health. Caring for Your Mental Health. Reviewed April 2026. Accessed September 12, 2026. https://www.nimh.nih.gov/health/topics/caring-for-your-mental-health</a:t>
            </a:r>
          </a:p>
          <a:p xmlns:a="http://schemas.openxmlformats.org/drawingml/2006/main">
            <a:r>
              <a:t>Read the sentence aloud. Give participants quiet time to complete it. Example: After lunch, at my desk, I will write one sentence. A smaller version or practical help may fit better.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metaphor. Explain that it is an illustration, not a model of the brain or a clinical claim. Disability, health, resources and social conditions can change what is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National Institute of Mental Health. Caring for Your Mental Health. Reviewed April 2026. Accessed September 12, 2026. https://www.nimh.nih.gov/health/topics/caring-for-your-mental-health</a:t>
            </a:r>
          </a:p>
          <a:p xmlns:a="http://schemas.openxmlformats.org/drawingml/2006/main">
            <a:r>
              <a:t>This is an original reflection exercise, not a claim about a specific psychotherapy protocol. Feelings matter even when an explanation is uncertain. Do not use this exercise to dismiss real danger or mistreatment.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National Center for Complementary and Integrative Health. Meditation and Mindfulness: Effectiveness and Safety. Accessed September 12, 2026. https://www.nccih.nih.gov/health/meditation-and-mindfulness-effectiveness-and-safety</a:t>
            </a:r>
          </a:p>
          <a:p xmlns:a="http://schemas.openxmlformats.org/drawingml/2006/main">
            <a:r>
              <a:t>Optional demonstration: notice the color of one nearby neutral object, eyes open if preferred. No special breathing or minimum duration. Stop if uncomfortable. Mindfulness can cause adverse experiences for some people. Do not suggest people should push 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participants to explain the difference in their own words. Invite an example without correcting their worth or asking for trauma disclosure. Model answer: A goal names the direction. A next step names one action, cue and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National Institute of Mental Health. Caring for Your Mental Health. Reviewed April 2026. Accessed September 12, 2026. https://www.nimh.nih.gov/health/topics/caring-for-your-mental-health</a:t>
            </a:r>
          </a:p>
          <a:p xmlns:a="http://schemas.openxmlformats.org/drawingml/2006/main">
            <a:r>
              <a:t>National Center for Complementary and Integrative Health. Meditation and Mindfulness: Effectiveness and Safety. Accessed September 12, 2026. https://www.nccih.nih.gov/health/meditation-and-mindfulness-effectiveness-and-safety</a:t>
            </a:r>
          </a:p>
          <a:p xmlns:a="http://schemas.openxmlformats.org/drawingml/2006/main">
            <a:r>
              <a:t>The examples and metaphors are original educational adaptations. These overview sources do not prove the effectiveness of these exact scripts. Seek qualified support when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8283d285a846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3dc5c0f1944886" /><Relationship Type="http://schemas.openxmlformats.org/officeDocument/2006/relationships/slideLayout" Target="/ppt/slideLayouts/slideLayout1.xml" Id="Rf0303591750e45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303591750e45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3d585e6aa5487d" /><Relationship Type="http://schemas.openxmlformats.org/officeDocument/2006/relationships/notesSlide" Target="/ppt/notesSlides/notesSlide1.xml" Id="Ra9d82ad87b2343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7fcfe48d324ac3" /><Relationship Type="http://schemas.openxmlformats.org/officeDocument/2006/relationships/notesSlide" Target="/ppt/notesSlides/notesSlide2.xml" Id="Rfcfd9d4ea81643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232ea900e7410a" /><Relationship Type="http://schemas.openxmlformats.org/officeDocument/2006/relationships/notesSlide" Target="/ppt/notesSlides/notesSlide3.xml" Id="R25c57a38f28441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6fe12a1263473f" /><Relationship Type="http://schemas.openxmlformats.org/officeDocument/2006/relationships/notesSlide" Target="/ppt/notesSlides/notesSlide4.xml" Id="R131cb387518745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f3a68b23f84b8e" /><Relationship Type="http://schemas.openxmlformats.org/officeDocument/2006/relationships/notesSlide" Target="/ppt/notesSlides/notesSlide5.xml" Id="Ra0a31cc566f440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12a0383cc5f403a" /><Relationship Type="http://schemas.openxmlformats.org/officeDocument/2006/relationships/notesSlide" Target="/ppt/notesSlides/notesSlide6.xml" Id="R3fcc1325136b46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b4ef7e243c4b49" /><Relationship Type="http://schemas.openxmlformats.org/officeDocument/2006/relationships/notesSlide" Target="/ppt/notesSlides/notesSlide7.xml" Id="R5e3c6fca61b24c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8163ad30154534" /><Relationship Type="http://schemas.openxmlformats.org/officeDocument/2006/relationships/notesSlide" Target="/ppt/notesSlides/notesSlide8.xml" Id="R6c7f52bffb7847ed" /></Relationships>
</file>

<file path=ppt/slides/slide1.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FCD72E-D172-4C71-BBF4-B346F9400467}"/>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F3A"/>
                </a:solidFill>
                <a:latin typeface="Bitstream Charter"/>
                <a:ea typeface="Bitstream Charter"/>
                <a:cs typeface="Bitstream Charter"/>
              </a:defRPr>
            </a:pPr>
            <a:r>
              <a:rPr sz="3600" b="1">
                <a:solidFill>
                  <a:srgbClr val="233F3A"/>
                </a:solidFill>
                <a:latin typeface="Bitstream Charter"/>
                <a:ea typeface="Bitstream Charter"/>
                <a:cs typeface="Bitstream Charter"/>
              </a:rPr>
              <a:t>Small steps for everyday wellbeing</a:t>
            </a:r>
          </a:p>
        </p:txBody>
      </p:sp>
      <p:sp>
        <p:nvSpPr>
          <p:cNvPr id="2" name="">
            <a:extLst xmlns:a="http://schemas.openxmlformats.org/drawingml/2006/main">
              <a:ext uri="{FF2B5EF4-FFF2-40B4-BE49-F238E27FC236}">
                <a16:creationId xmlns:a16="http://schemas.microsoft.com/office/drawing/2014/main" id="{5805DC84-A45C-455A-A17D-D3654CFF9947}"/>
              </a:ext>
            </a:extLst>
          </p:cNvPr>
          <p:cNvSpPr>
            <a:spLocks xmlns:a="http://schemas.openxmlformats.org/drawingml/2006/main" noGrp="1"/>
          </p:cNvSpPr>
          <p:nvPr/>
        </p:nvSpPr>
        <p:spPr>
          <a:xfrm xmlns:a="http://schemas.openxmlformats.org/drawingml/2006/main">
            <a:off x="723900" y="21907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F5D5D"/>
                </a:solidFill>
                <a:latin typeface="Bitstream Charter"/>
                <a:ea typeface="Bitstream Charter"/>
                <a:cs typeface="Bitstream Charter"/>
              </a:defRPr>
            </a:pPr>
            <a:r>
              <a:rPr sz="2250" b="1">
                <a:solidFill>
                  <a:srgbClr val="2F5D5D"/>
                </a:solidFill>
                <a:latin typeface="Bitstream Charter"/>
                <a:ea typeface="Bitstream Charter"/>
                <a:cs typeface="Bitstream Charter"/>
              </a:rPr>
              <a:t>MyMentalHealthBuddy</a:t>
            </a:r>
          </a:p>
        </p:txBody>
      </p:sp>
      <p:sp>
        <p:nvSpPr>
          <p:cNvPr id="3" name="">
            <a:extLst xmlns:a="http://schemas.openxmlformats.org/drawingml/2006/main">
              <a:ext uri="{FF2B5EF4-FFF2-40B4-BE49-F238E27FC236}">
                <a16:creationId xmlns:a16="http://schemas.microsoft.com/office/drawing/2014/main" id="{1A74E69C-76E7-4030-BF94-A55A0804181D}"/>
              </a:ext>
            </a:extLst>
          </p:cNvPr>
          <p:cNvSpPr>
            <a:spLocks xmlns:a="http://schemas.openxmlformats.org/drawingml/2006/main" noGrp="1"/>
          </p:cNvSpPr>
          <p:nvPr/>
        </p:nvSpPr>
        <p:spPr>
          <a:xfrm xmlns:a="http://schemas.openxmlformats.org/drawingml/2006/main">
            <a:off x="723900" y="3238500"/>
            <a:ext cx="10191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33F3A"/>
                </a:solidFill>
                <a:latin typeface="Bitstream Charter"/>
                <a:ea typeface="Bitstream Charter"/>
                <a:cs typeface="Bitstream Charter"/>
              </a:defRPr>
            </a:pPr>
            <a:r>
              <a:rPr sz="3150" b="0">
                <a:solidFill>
                  <a:srgbClr val="233F3A"/>
                </a:solidFill>
                <a:latin typeface="Bitstream Charter"/>
                <a:ea typeface="Bitstream Charter"/>
                <a:cs typeface="Bitstream Charter"/>
              </a:rPr>
              <a:t>Clear examples. Optional practice.</a:t>
            </a:r>
          </a:p>
          <a:p xmlns:a="http://schemas.openxmlformats.org/drawingml/2006/main">
            <a:pPr>
              <a:defRPr sz="3150" b="0">
                <a:solidFill>
                  <a:srgbClr val="233F3A"/>
                </a:solidFill>
                <a:latin typeface="Bitstream Charter"/>
                <a:ea typeface="Bitstream Charter"/>
                <a:cs typeface="Bitstream Charter"/>
              </a:defRPr>
            </a:pPr>
            <a:r>
              <a:rPr sz="3150" b="0">
                <a:solidFill>
                  <a:srgbClr val="233F3A"/>
                </a:solidFill>
                <a:latin typeface="Bitstream Charter"/>
                <a:ea typeface="Bitstream Charter"/>
                <a:cs typeface="Bitstream Charter"/>
              </a:rPr>
              <a:t>Room for your own choices.</a:t>
            </a:r>
          </a:p>
        </p:txBody>
      </p:sp>
      <p:sp>
        <p:nvSpPr>
          <p:cNvPr id="4" name="">
            <a:extLst xmlns:a="http://schemas.openxmlformats.org/drawingml/2006/main">
              <a:ext uri="{FF2B5EF4-FFF2-40B4-BE49-F238E27FC236}">
                <a16:creationId xmlns:a16="http://schemas.microsoft.com/office/drawing/2014/main" id="{A618D213-4540-4BE2-B95F-986138A46D98}"/>
              </a:ext>
            </a:extLst>
          </p:cNvPr>
          <p:cNvSpPr>
            <a:spLocks xmlns:a="http://schemas.openxmlformats.org/drawingml/2006/main" noGrp="1"/>
          </p:cNvSpPr>
          <p:nvPr/>
        </p:nvSpPr>
        <p:spPr>
          <a:xfrm xmlns:a="http://schemas.openxmlformats.org/drawingml/2006/main">
            <a:off x="723900" y="5762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F3A"/>
                </a:solidFill>
                <a:latin typeface="Bitstream Charter"/>
                <a:ea typeface="Bitstream Charter"/>
                <a:cs typeface="Bitstream Charter"/>
              </a:defRPr>
            </a:pPr>
            <a:r>
              <a:rPr sz="1875" b="0">
                <a:solidFill>
                  <a:srgbClr val="233F3A"/>
                </a:solidFill>
                <a:latin typeface="Bitstream Charter"/>
                <a:ea typeface="Bitstream Charter"/>
                <a:cs typeface="Bitstream Charter"/>
              </a:rPr>
              <a:t>General education. Adapt, pause or skip any activity.</a:t>
            </a:r>
          </a:p>
        </p:txBody>
      </p:sp>
    </p:spTree>
    <p:extLst>
      <p:ext uri="{BB962C8B-B14F-4D97-AF65-F5344CB8AC3E}">
        <p14:creationId xmlns:p14="http://schemas.microsoft.com/office/powerpoint/2010/main" val="253279101"/>
      </p:ext>
    </p:extLst>
  </p:cSld>
</p:sld>
</file>

<file path=ppt/slides/slide2.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F89BDC9-01C5-4887-99B8-DFC32A2BB6F1}"/>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F3A"/>
                </a:solidFill>
                <a:latin typeface="Bitstream Charter"/>
                <a:ea typeface="Bitstream Charter"/>
                <a:cs typeface="Bitstream Charter"/>
              </a:defRPr>
            </a:pPr>
            <a:r>
              <a:rPr sz="3600" b="1">
                <a:solidFill>
                  <a:srgbClr val="233F3A"/>
                </a:solidFill>
                <a:latin typeface="Bitstream Charter"/>
                <a:ea typeface="Bitstream Charter"/>
                <a:cs typeface="Bitstream Charter"/>
              </a:rPr>
              <a:t>A goal and a next step</a:t>
            </a:r>
          </a:p>
        </p:txBody>
      </p:sp>
      <p:graphicFrame>
        <p:nvGraphicFramePr>
          <p:cNvPr id="5" name=""/>
          <p:cNvGraphicFramePr/>
          <p:nvPr/>
        </p:nvGraphicFramePr>
        <p:xfrm>
          <a:off xmlns:a="http://schemas.openxmlformats.org/drawingml/2006/main" x="685800" y="1905000"/>
          <a:ext xmlns:a="http://schemas.openxmlformats.org/drawingml/2006/main" cx="10820400" cy="2857500"/>
        </p:xfrm>
        <a:graphic xmlns:a="http://schemas.openxmlformats.org/drawingml/2006/main">
          <a:graphicData uri="http://schemas.openxmlformats.org/drawingml/2006/table">
            <a:tbl>
              <a:tblPr/>
              <a:tblGrid>
                <a:gridCol w="3333750"/>
                <a:gridCol w="7486650"/>
              </a:tblGrid>
              <a:tr h="952500">
                <a:tc>
                  <a:txBody>
                    <a:bodyPr/>
                    <a:lstStyle/>
                    <a:p>
                      <a:r>
                        <a:rPr sz="2175" b="1">
                          <a:solidFill>
                            <a:srgbClr val="FFFFFF"/>
                          </a:solidFill>
                          <a:latin typeface="Bitstream Charter"/>
                          <a:ea typeface="Bitstream Charter"/>
                          <a:cs typeface="Bitstream Charter"/>
                        </a:rPr>
                        <a:t>Level</a:t>
                      </a:r>
                    </a:p>
                  </a:txBody>
                  <a:tcPr marL="91440" marR="91440" marT="45720" marB="45720">
                    <a:solidFill>
                      <a:srgbClr val="2F5D5D"/>
                    </a:solidFill>
                  </a:tcPr>
                </a:tc>
                <a:tc>
                  <a:txBody>
                    <a:bodyPr/>
                    <a:lstStyle/>
                    <a:p>
                      <a:r>
                        <a:rPr sz="2175" b="1">
                          <a:solidFill>
                            <a:srgbClr val="FFFFFF"/>
                          </a:solidFill>
                          <a:latin typeface="Bitstream Charter"/>
                          <a:ea typeface="Bitstream Charter"/>
                          <a:cs typeface="Bitstream Charter"/>
                        </a:rPr>
                        <a:t>Example</a:t>
                      </a:r>
                    </a:p>
                  </a:txBody>
                  <a:tcPr marL="91440" marR="91440" marT="45720" marB="45720">
                    <a:solidFill>
                      <a:srgbClr val="2F5D5D"/>
                    </a:solidFill>
                  </a:tcPr>
                </a:tc>
              </a:tr>
              <a:tr h="952500">
                <a:tc>
                  <a:txBody>
                    <a:bodyPr/>
                    <a:lstStyle/>
                    <a:p>
                      <a:r>
                        <a:rPr sz="2175" b="0">
                          <a:solidFill>
                            <a:srgbClr val="233F3A"/>
                          </a:solidFill>
                          <a:latin typeface="Bitstream Charter"/>
                          <a:ea typeface="Bitstream Charter"/>
                          <a:cs typeface="Bitstream Charter"/>
                        </a:rPr>
                        <a:t>Goal</a:t>
                      </a:r>
                    </a:p>
                  </a:txBody>
                  <a:tcPr marL="91440" marR="91440" marT="45720" marB="45720">
                    <a:solidFill>
                      <a:srgbClr val="FFFFFF"/>
                    </a:solidFill>
                  </a:tcPr>
                </a:tc>
                <a:tc>
                  <a:txBody>
                    <a:bodyPr/>
                    <a:lstStyle/>
                    <a:p>
                      <a:r>
                        <a:rPr sz="2175" b="0">
                          <a:solidFill>
                            <a:srgbClr val="233F3A"/>
                          </a:solidFill>
                          <a:latin typeface="Bitstream Charter"/>
                          <a:ea typeface="Bitstream Charter"/>
                          <a:cs typeface="Bitstream Charter"/>
                        </a:rPr>
                        <a:t>I want an organized desk.</a:t>
                      </a:r>
                    </a:p>
                  </a:txBody>
                  <a:tcPr marL="91440" marR="91440" marT="45720" marB="45720">
                    <a:solidFill>
                      <a:srgbClr val="FFFFFF"/>
                    </a:solidFill>
                  </a:tcPr>
                </a:tc>
              </a:tr>
              <a:tr h="952500">
                <a:tc>
                  <a:txBody>
                    <a:bodyPr/>
                    <a:lstStyle/>
                    <a:p>
                      <a:r>
                        <a:rPr sz="2175" b="0">
                          <a:solidFill>
                            <a:srgbClr val="233F3A"/>
                          </a:solidFill>
                          <a:latin typeface="Bitstream Charter"/>
                          <a:ea typeface="Bitstream Charter"/>
                          <a:cs typeface="Bitstream Charter"/>
                        </a:rPr>
                        <a:t>Next step</a:t>
                      </a:r>
                    </a:p>
                  </a:txBody>
                  <a:tcPr marL="91440" marR="91440" marT="45720" marB="45720">
                    <a:solidFill>
                      <a:srgbClr val="FFFFFF"/>
                    </a:solidFill>
                  </a:tcPr>
                </a:tc>
                <a:tc>
                  <a:txBody>
                    <a:bodyPr/>
                    <a:lstStyle/>
                    <a:p>
                      <a:r>
                        <a:rPr sz="2175" b="0">
                          <a:solidFill>
                            <a:srgbClr val="233F3A"/>
                          </a:solidFill>
                          <a:latin typeface="Bitstream Charter"/>
                          <a:ea typeface="Bitstream Charter"/>
                          <a:cs typeface="Bitstream Charter"/>
                        </a:rPr>
                        <a:t>After breakfast, I will put three papers in a folder.</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449C6E6-5BE9-4353-9D25-AFBAED63B48B}"/>
              </a:ext>
            </a:extLst>
          </p:cNvPr>
          <p:cNvSpPr>
            <a:spLocks xmlns:a="http://schemas.openxmlformats.org/drawingml/2006/main" noGrp="1"/>
          </p:cNvSpPr>
          <p:nvPr/>
        </p:nvSpPr>
        <p:spPr>
          <a:xfrm xmlns:a="http://schemas.openxmlformats.org/drawingml/2006/main">
            <a:off x="723900" y="52387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3F3A"/>
                </a:solidFill>
                <a:latin typeface="Bitstream Charter"/>
                <a:ea typeface="Bitstream Charter"/>
                <a:cs typeface="Bitstream Charter"/>
              </a:defRPr>
            </a:pPr>
            <a:r>
              <a:rPr sz="2250" b="0">
                <a:solidFill>
                  <a:srgbClr val="233F3A"/>
                </a:solidFill>
                <a:latin typeface="Bitstream Charter"/>
                <a:ea typeface="Bitstream Charter"/>
                <a:cs typeface="Bitstream Charter"/>
              </a:rPr>
              <a:t>A useful next step fits your energy and circumstances.</a:t>
            </a:r>
          </a:p>
        </p:txBody>
      </p:sp>
    </p:spTree>
    <p:extLst>
      <p:ext uri="{BB962C8B-B14F-4D97-AF65-F5344CB8AC3E}">
        <p14:creationId xmlns:p14="http://schemas.microsoft.com/office/powerpoint/2010/main" val="1738243495"/>
      </p:ext>
    </p:extLst>
  </p:cSld>
</p:sld>
</file>

<file path=ppt/slides/slide3.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A339FFA-2933-43AE-9E70-17A9B8AB1A81}"/>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F3A"/>
                </a:solidFill>
                <a:latin typeface="Bitstream Charter"/>
                <a:ea typeface="Bitstream Charter"/>
                <a:cs typeface="Bitstream Charter"/>
              </a:defRPr>
            </a:pPr>
            <a:r>
              <a:rPr sz="3600" b="1">
                <a:solidFill>
                  <a:srgbClr val="233F3A"/>
                </a:solidFill>
                <a:latin typeface="Bitstream Charter"/>
                <a:ea typeface="Bitstream Charter"/>
                <a:cs typeface="Bitstream Charter"/>
              </a:rPr>
              <a:t>A plan that fits today</a:t>
            </a:r>
          </a:p>
        </p:txBody>
      </p:sp>
      <p:sp>
        <p:nvSpPr>
          <p:cNvPr id="2" name="">
            <a:extLst xmlns:a="http://schemas.openxmlformats.org/drawingml/2006/main">
              <a:ext uri="{FF2B5EF4-FFF2-40B4-BE49-F238E27FC236}">
                <a16:creationId xmlns:a16="http://schemas.microsoft.com/office/drawing/2014/main" id="{DCC12AB8-BE61-4D46-A402-E48CDF2A45DE}"/>
              </a:ext>
            </a:extLst>
          </p:cNvPr>
          <p:cNvSpPr>
            <a:spLocks xmlns:a="http://schemas.openxmlformats.org/drawingml/2006/main" noGrp="1"/>
          </p:cNvSpPr>
          <p:nvPr/>
        </p:nvSpPr>
        <p:spPr>
          <a:xfrm xmlns:a="http://schemas.openxmlformats.org/drawingml/2006/main">
            <a:off x="723900" y="2000250"/>
            <a:ext cx="1028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33F3A"/>
                </a:solidFill>
                <a:latin typeface="Bitstream Charter"/>
                <a:ea typeface="Bitstream Charter"/>
                <a:cs typeface="Bitstream Charter"/>
              </a:defRPr>
            </a:pPr>
            <a:r>
              <a:rPr sz="3150" b="0">
                <a:solidFill>
                  <a:srgbClr val="233F3A"/>
                </a:solidFill>
                <a:latin typeface="Bitstream Charter"/>
                <a:ea typeface="Bitstream Charter"/>
                <a:cs typeface="Bitstream Charter"/>
              </a:rPr>
              <a:t>After [an ordinary event],</a:t>
            </a:r>
          </a:p>
          <a:p xmlns:a="http://schemas.openxmlformats.org/drawingml/2006/main">
            <a:pPr>
              <a:defRPr sz="3150" b="0">
                <a:solidFill>
                  <a:srgbClr val="233F3A"/>
                </a:solidFill>
                <a:latin typeface="Bitstream Charter"/>
                <a:ea typeface="Bitstream Charter"/>
                <a:cs typeface="Bitstream Charter"/>
              </a:defRPr>
            </a:pPr>
            <a:r>
              <a:rPr sz="3150" b="0">
                <a:solidFill>
                  <a:srgbClr val="233F3A"/>
                </a:solidFill>
                <a:latin typeface="Bitstream Charter"/>
                <a:ea typeface="Bitstream Charter"/>
                <a:cs typeface="Bitstream Charter"/>
              </a:rPr>
              <a:t>at [a place],</a:t>
            </a:r>
          </a:p>
          <a:p xmlns:a="http://schemas.openxmlformats.org/drawingml/2006/main">
            <a:pPr>
              <a:defRPr sz="3150" b="0">
                <a:solidFill>
                  <a:srgbClr val="233F3A"/>
                </a:solidFill>
                <a:latin typeface="Bitstream Charter"/>
                <a:ea typeface="Bitstream Charter"/>
                <a:cs typeface="Bitstream Charter"/>
              </a:defRPr>
            </a:pPr>
            <a:r>
              <a:rPr sz="3150" b="0">
                <a:solidFill>
                  <a:srgbClr val="233F3A"/>
                </a:solidFill>
                <a:latin typeface="Bitstream Charter"/>
                <a:ea typeface="Bitstream Charter"/>
                <a:cs typeface="Bitstream Charter"/>
              </a:rPr>
              <a:t>I will [one small action].</a:t>
            </a:r>
          </a:p>
        </p:txBody>
      </p:sp>
      <p:sp>
        <p:nvSpPr>
          <p:cNvPr id="3" name="">
            <a:extLst xmlns:a="http://schemas.openxmlformats.org/drawingml/2006/main">
              <a:ext uri="{FF2B5EF4-FFF2-40B4-BE49-F238E27FC236}">
                <a16:creationId xmlns:a16="http://schemas.microsoft.com/office/drawing/2014/main" id="{4C039B1E-4BD1-460C-B580-0C9200339BE8}"/>
              </a:ext>
            </a:extLst>
          </p:cNvPr>
          <p:cNvSpPr>
            <a:spLocks xmlns:a="http://schemas.openxmlformats.org/drawingml/2006/main" noGrp="1"/>
          </p:cNvSpPr>
          <p:nvPr/>
        </p:nvSpPr>
        <p:spPr>
          <a:xfrm xmlns:a="http://schemas.openxmlformats.org/drawingml/2006/main">
            <a:off x="723900" y="48577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3F3A"/>
                </a:solidFill>
                <a:latin typeface="Bitstream Charter"/>
                <a:ea typeface="Bitstream Charter"/>
                <a:cs typeface="Bitstream Charter"/>
              </a:defRPr>
            </a:pPr>
            <a:r>
              <a:rPr sz="2250" b="0">
                <a:solidFill>
                  <a:srgbClr val="233F3A"/>
                </a:solidFill>
                <a:latin typeface="Bitstream Charter"/>
                <a:ea typeface="Bitstream Charter"/>
                <a:cs typeface="Bitstream Charter"/>
              </a:rPr>
              <a:t>A difficult-day version can be smaller.</a:t>
            </a:r>
          </a:p>
          <a:p xmlns:a="http://schemas.openxmlformats.org/drawingml/2006/main">
            <a:pPr>
              <a:defRPr sz="2250" b="0">
                <a:solidFill>
                  <a:srgbClr val="233F3A"/>
                </a:solidFill>
                <a:latin typeface="Bitstream Charter"/>
                <a:ea typeface="Bitstream Charter"/>
                <a:cs typeface="Bitstream Charter"/>
              </a:defRPr>
            </a:pPr>
            <a:r>
              <a:rPr sz="2250" b="0">
                <a:solidFill>
                  <a:srgbClr val="233F3A"/>
                </a:solidFill>
                <a:latin typeface="Bitstream Charter"/>
                <a:ea typeface="Bitstream Charter"/>
                <a:cs typeface="Bitstream Charter"/>
              </a:rPr>
              <a:t>You can also ask for help.</a:t>
            </a:r>
          </a:p>
        </p:txBody>
      </p:sp>
    </p:spTree>
    <p:extLst>
      <p:ext uri="{BB962C8B-B14F-4D97-AF65-F5344CB8AC3E}">
        <p14:creationId xmlns:p14="http://schemas.microsoft.com/office/powerpoint/2010/main" val="263952334"/>
      </p:ext>
    </p:extLst>
  </p:cSld>
</p:sld>
</file>

<file path=ppt/slides/slide4.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ACFE751-2F1C-469B-93D3-89E8D7F3E718}"/>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F3A"/>
                </a:solidFill>
                <a:latin typeface="Bitstream Charter"/>
                <a:ea typeface="Bitstream Charter"/>
                <a:cs typeface="Bitstream Charter"/>
              </a:defRPr>
            </a:pPr>
            <a:r>
              <a:rPr sz="3600" b="1">
                <a:solidFill>
                  <a:srgbClr val="233F3A"/>
                </a:solidFill>
                <a:latin typeface="Bitstream Charter"/>
                <a:ea typeface="Bitstream Charter"/>
                <a:cs typeface="Bitstream Charter"/>
              </a:rPr>
              <a:t>The staircase metaphor</a:t>
            </a:r>
          </a:p>
        </p:txBody>
      </p:sp>
      <p:sp>
        <p:nvSpPr>
          <p:cNvPr id="2" name="">
            <a:extLst xmlns:a="http://schemas.openxmlformats.org/drawingml/2006/main">
              <a:ext uri="{FF2B5EF4-FFF2-40B4-BE49-F238E27FC236}">
                <a16:creationId xmlns:a16="http://schemas.microsoft.com/office/drawing/2014/main" id="{CB3770D0-C391-46B9-8801-904FD87B8B43}"/>
              </a:ext>
            </a:extLst>
          </p:cNvPr>
          <p:cNvSpPr>
            <a:spLocks xmlns:a="http://schemas.openxmlformats.org/drawingml/2006/main" noGrp="1"/>
          </p:cNvSpPr>
          <p:nvPr/>
        </p:nvSpPr>
        <p:spPr>
          <a:xfrm xmlns:a="http://schemas.openxmlformats.org/drawingml/2006/main">
            <a:off x="723900" y="190500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233F3A"/>
                </a:solidFill>
                <a:latin typeface="Bitstream Charter"/>
                <a:ea typeface="Bitstream Charter"/>
                <a:cs typeface="Bitstream Charter"/>
              </a:defRPr>
            </a:pPr>
            <a:r>
              <a:rPr sz="2850" b="0">
                <a:solidFill>
                  <a:srgbClr val="233F3A"/>
                </a:solidFill>
                <a:latin typeface="Bitstream Charter"/>
                <a:ea typeface="Bitstream Charter"/>
                <a:cs typeface="Bitstream Charter"/>
              </a:rPr>
              <a:t>A large goal can feel like a whole staircase.</a:t>
            </a:r>
          </a:p>
          <a:p xmlns:a="http://schemas.openxmlformats.org/drawingml/2006/main">
            <a:pPr>
              <a:defRPr sz="2850" b="0">
                <a:solidFill>
                  <a:srgbClr val="233F3A"/>
                </a:solidFill>
                <a:latin typeface="Bitstream Charter"/>
                <a:ea typeface="Bitstream Charter"/>
                <a:cs typeface="Bitstream Charter"/>
              </a:defRPr>
            </a:pPr>
            <a:r>
              <a:rPr sz="2850" b="0">
                <a:solidFill>
                  <a:srgbClr val="233F3A"/>
                </a:solidFill>
                <a:latin typeface="Bitstream Charter"/>
                <a:ea typeface="Bitstream Charter"/>
                <a:cs typeface="Bitstream Charter"/>
              </a:rPr>
              <a:t>A next step gives you one place to focus.</a:t>
            </a:r>
          </a:p>
        </p:txBody>
      </p:sp>
      <p:sp>
        <p:nvSpPr>
          <p:cNvPr id="3" name="">
            <a:extLst xmlns:a="http://schemas.openxmlformats.org/drawingml/2006/main">
              <a:ext uri="{FF2B5EF4-FFF2-40B4-BE49-F238E27FC236}">
                <a16:creationId xmlns:a16="http://schemas.microsoft.com/office/drawing/2014/main" id="{C1C73AAB-B8A4-422E-941A-CF4AF155E97B}"/>
              </a:ext>
            </a:extLst>
          </p:cNvPr>
          <p:cNvSpPr>
            <a:spLocks xmlns:a="http://schemas.openxmlformats.org/drawingml/2006/main" noGrp="1"/>
          </p:cNvSpPr>
          <p:nvPr/>
        </p:nvSpPr>
        <p:spPr>
          <a:xfrm xmlns:a="http://schemas.openxmlformats.org/drawingml/2006/main">
            <a:off x="723900" y="3810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33F3A"/>
                </a:solidFill>
                <a:latin typeface="Bitstream Charter"/>
                <a:ea typeface="Bitstream Charter"/>
                <a:cs typeface="Bitstream Charter"/>
              </a:defRPr>
            </a:pPr>
            <a:r>
              <a:rPr sz="2400" b="1">
                <a:solidFill>
                  <a:srgbClr val="233F3A"/>
                </a:solidFill>
                <a:latin typeface="Bitstream Charter"/>
                <a:ea typeface="Bitstream Charter"/>
                <a:cs typeface="Bitstream Charter"/>
              </a:rPr>
              <a:t>The limit of the metaphor</a:t>
            </a:r>
          </a:p>
        </p:txBody>
      </p:sp>
      <p:sp>
        <p:nvSpPr>
          <p:cNvPr id="4" name="">
            <a:extLst xmlns:a="http://schemas.openxmlformats.org/drawingml/2006/main">
              <a:ext uri="{FF2B5EF4-FFF2-40B4-BE49-F238E27FC236}">
                <a16:creationId xmlns:a16="http://schemas.microsoft.com/office/drawing/2014/main" id="{EBA99D18-9DBA-485F-AD6B-67C9385C575F}"/>
              </a:ext>
            </a:extLst>
          </p:cNvPr>
          <p:cNvSpPr>
            <a:spLocks xmlns:a="http://schemas.openxmlformats.org/drawingml/2006/main" noGrp="1"/>
          </p:cNvSpPr>
          <p:nvPr/>
        </p:nvSpPr>
        <p:spPr>
          <a:xfrm xmlns:a="http://schemas.openxmlformats.org/drawingml/2006/main">
            <a:off x="723900" y="4619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3F3A"/>
                </a:solidFill>
                <a:latin typeface="Bitstream Charter"/>
                <a:ea typeface="Bitstream Charter"/>
                <a:cs typeface="Bitstream Charter"/>
              </a:defRPr>
            </a:pPr>
            <a:r>
              <a:rPr sz="2550" b="0">
                <a:solidFill>
                  <a:srgbClr val="233F3A"/>
                </a:solidFill>
                <a:latin typeface="Bitstream Charter"/>
                <a:ea typeface="Bitstream Charter"/>
                <a:cs typeface="Bitstream Charter"/>
              </a:rPr>
              <a:t>Real life may call for a ramp, rest, support</a:t>
            </a:r>
          </a:p>
          <a:p xmlns:a="http://schemas.openxmlformats.org/drawingml/2006/main">
            <a:pPr>
              <a:defRPr sz="2550" b="0">
                <a:solidFill>
                  <a:srgbClr val="233F3A"/>
                </a:solidFill>
                <a:latin typeface="Bitstream Charter"/>
                <a:ea typeface="Bitstream Charter"/>
                <a:cs typeface="Bitstream Charter"/>
              </a:defRPr>
            </a:pPr>
            <a:r>
              <a:rPr sz="2550" b="0">
                <a:solidFill>
                  <a:srgbClr val="233F3A"/>
                </a:solidFill>
                <a:latin typeface="Bitstream Charter"/>
                <a:ea typeface="Bitstream Charter"/>
                <a:cs typeface="Bitstream Charter"/>
              </a:rPr>
              <a:t>or a different route.</a:t>
            </a:r>
          </a:p>
        </p:txBody>
      </p:sp>
    </p:spTree>
    <p:extLst>
      <p:ext uri="{BB962C8B-B14F-4D97-AF65-F5344CB8AC3E}">
        <p14:creationId xmlns:p14="http://schemas.microsoft.com/office/powerpoint/2010/main" val="1098386258"/>
      </p:ext>
    </p:extLst>
  </p:cSld>
</p:sld>
</file>

<file path=ppt/slides/slide5.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E147F7E-DF35-4F77-9E57-A082B7F0B62D}"/>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F3A"/>
                </a:solidFill>
                <a:latin typeface="Bitstream Charter"/>
                <a:ea typeface="Bitstream Charter"/>
                <a:cs typeface="Bitstream Charter"/>
              </a:defRPr>
            </a:pPr>
            <a:r>
              <a:rPr sz="3600" b="1">
                <a:solidFill>
                  <a:srgbClr val="233F3A"/>
                </a:solidFill>
                <a:latin typeface="Bitstream Charter"/>
                <a:ea typeface="Bitstream Charter"/>
                <a:cs typeface="Bitstream Charter"/>
              </a:rPr>
              <a:t>An observation and an interpretation</a:t>
            </a:r>
          </a:p>
        </p:txBody>
      </p:sp>
      <p:graphicFrame>
        <p:nvGraphicFramePr>
          <p:cNvPr id="5"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3333750"/>
                <a:gridCol w="7486650"/>
              </a:tblGrid>
              <a:tr h="714375">
                <a:tc>
                  <a:txBody>
                    <a:bodyPr/>
                    <a:lstStyle/>
                    <a:p>
                      <a:r>
                        <a:rPr sz="2175" b="1">
                          <a:solidFill>
                            <a:srgbClr val="FFFFFF"/>
                          </a:solidFill>
                          <a:latin typeface="Bitstream Charter"/>
                          <a:ea typeface="Bitstream Charter"/>
                          <a:cs typeface="Bitstream Charter"/>
                        </a:rPr>
                        <a:t>Part</a:t>
                      </a:r>
                    </a:p>
                  </a:txBody>
                  <a:tcPr marL="91440" marR="91440" marT="45720" marB="45720">
                    <a:solidFill>
                      <a:srgbClr val="2F5D5D"/>
                    </a:solidFill>
                  </a:tcPr>
                </a:tc>
                <a:tc>
                  <a:txBody>
                    <a:bodyPr/>
                    <a:lstStyle/>
                    <a:p>
                      <a:r>
                        <a:rPr sz="2175" b="1">
                          <a:solidFill>
                            <a:srgbClr val="FFFFFF"/>
                          </a:solidFill>
                          <a:latin typeface="Bitstream Charter"/>
                          <a:ea typeface="Bitstream Charter"/>
                          <a:cs typeface="Bitstream Charter"/>
                        </a:rPr>
                        <a:t>Example</a:t>
                      </a:r>
                    </a:p>
                  </a:txBody>
                  <a:tcPr marL="91440" marR="91440" marT="45720" marB="45720">
                    <a:solidFill>
                      <a:srgbClr val="2F5D5D"/>
                    </a:solidFill>
                  </a:tcPr>
                </a:tc>
              </a:tr>
              <a:tr h="714375">
                <a:tc>
                  <a:txBody>
                    <a:bodyPr/>
                    <a:lstStyle/>
                    <a:p>
                      <a:r>
                        <a:rPr sz="2175" b="0">
                          <a:solidFill>
                            <a:srgbClr val="233F3A"/>
                          </a:solidFill>
                          <a:latin typeface="Bitstream Charter"/>
                          <a:ea typeface="Bitstream Charter"/>
                          <a:cs typeface="Bitstream Charter"/>
                        </a:rPr>
                        <a:t>Observation</a:t>
                      </a:r>
                    </a:p>
                  </a:txBody>
                  <a:tcPr marL="91440" marR="91440" marT="45720" marB="45720">
                    <a:solidFill>
                      <a:srgbClr val="FFFFFF"/>
                    </a:solidFill>
                  </a:tcPr>
                </a:tc>
                <a:tc>
                  <a:txBody>
                    <a:bodyPr/>
                    <a:lstStyle/>
                    <a:p>
                      <a:r>
                        <a:rPr sz="2175" b="0">
                          <a:solidFill>
                            <a:srgbClr val="233F3A"/>
                          </a:solidFill>
                          <a:latin typeface="Bitstream Charter"/>
                          <a:ea typeface="Bitstream Charter"/>
                          <a:cs typeface="Bitstream Charter"/>
                        </a:rPr>
                        <a:t>My friend has not replied since yesterday.</a:t>
                      </a:r>
                    </a:p>
                  </a:txBody>
                  <a:tcPr marL="91440" marR="91440" marT="45720" marB="45720">
                    <a:solidFill>
                      <a:srgbClr val="FFFFFF"/>
                    </a:solidFill>
                  </a:tcPr>
                </a:tc>
              </a:tr>
              <a:tr h="714375">
                <a:tc>
                  <a:txBody>
                    <a:bodyPr/>
                    <a:lstStyle/>
                    <a:p>
                      <a:r>
                        <a:rPr sz="2175" b="0">
                          <a:solidFill>
                            <a:srgbClr val="233F3A"/>
                          </a:solidFill>
                          <a:latin typeface="Bitstream Charter"/>
                          <a:ea typeface="Bitstream Charter"/>
                          <a:cs typeface="Bitstream Charter"/>
                        </a:rPr>
                        <a:t>Interpretation</a:t>
                      </a:r>
                    </a:p>
                  </a:txBody>
                  <a:tcPr marL="91440" marR="91440" marT="45720" marB="45720">
                    <a:solidFill>
                      <a:srgbClr val="FFFFFF"/>
                    </a:solidFill>
                  </a:tcPr>
                </a:tc>
                <a:tc>
                  <a:txBody>
                    <a:bodyPr/>
                    <a:lstStyle/>
                    <a:p>
                      <a:r>
                        <a:rPr sz="2175" b="0">
                          <a:solidFill>
                            <a:srgbClr val="233F3A"/>
                          </a:solidFill>
                          <a:latin typeface="Bitstream Charter"/>
                          <a:ea typeface="Bitstream Charter"/>
                          <a:cs typeface="Bitstream Charter"/>
                        </a:rPr>
                        <a:t>They might be angry with me.</a:t>
                      </a:r>
                    </a:p>
                  </a:txBody>
                  <a:tcPr marL="91440" marR="91440" marT="45720" marB="45720">
                    <a:solidFill>
                      <a:srgbClr val="FFFFFF"/>
                    </a:solidFill>
                  </a:tcPr>
                </a:tc>
              </a:tr>
              <a:tr h="714375">
                <a:tc>
                  <a:txBody>
                    <a:bodyPr/>
                    <a:lstStyle/>
                    <a:p>
                      <a:r>
                        <a:rPr sz="2175" b="0">
                          <a:solidFill>
                            <a:srgbClr val="233F3A"/>
                          </a:solidFill>
                          <a:latin typeface="Bitstream Charter"/>
                          <a:ea typeface="Bitstream Charter"/>
                          <a:cs typeface="Bitstream Charter"/>
                        </a:rPr>
                        <a:t>Question</a:t>
                      </a:r>
                    </a:p>
                  </a:txBody>
                  <a:tcPr marL="91440" marR="91440" marT="45720" marB="45720">
                    <a:solidFill>
                      <a:srgbClr val="FFFFFF"/>
                    </a:solidFill>
                  </a:tcPr>
                </a:tc>
                <a:tc>
                  <a:txBody>
                    <a:bodyPr/>
                    <a:lstStyle/>
                    <a:p>
                      <a:r>
                        <a:rPr sz="2175" b="0">
                          <a:solidFill>
                            <a:srgbClr val="233F3A"/>
                          </a:solidFill>
                          <a:latin typeface="Bitstream Charter"/>
                          <a:ea typeface="Bitstream Charter"/>
                          <a:cs typeface="Bitstream Charter"/>
                        </a:rPr>
                        <a:t>What information would help me understand?</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BF01E30-08F4-46CD-ABAC-6CA54CF9570B}"/>
              </a:ext>
            </a:extLst>
          </p:cNvPr>
          <p:cNvSpPr>
            <a:spLocks xmlns:a="http://schemas.openxmlformats.org/drawingml/2006/main" noGrp="1"/>
          </p:cNvSpPr>
          <p:nvPr/>
        </p:nvSpPr>
        <p:spPr>
          <a:xfrm xmlns:a="http://schemas.openxmlformats.org/drawingml/2006/main">
            <a:off x="723900" y="52387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F3A"/>
                </a:solidFill>
                <a:latin typeface="Bitstream Charter"/>
                <a:ea typeface="Bitstream Charter"/>
                <a:cs typeface="Bitstream Charter"/>
              </a:defRPr>
            </a:pPr>
            <a:r>
              <a:rPr sz="2175" b="0">
                <a:solidFill>
                  <a:srgbClr val="233F3A"/>
                </a:solidFill>
                <a:latin typeface="Bitstream Charter"/>
                <a:ea typeface="Bitstream Charter"/>
                <a:cs typeface="Bitstream Charter"/>
              </a:rPr>
              <a:t>A feeling can be real while its explanation is uncertain.</a:t>
            </a:r>
          </a:p>
        </p:txBody>
      </p:sp>
    </p:spTree>
    <p:extLst>
      <p:ext uri="{BB962C8B-B14F-4D97-AF65-F5344CB8AC3E}">
        <p14:creationId xmlns:p14="http://schemas.microsoft.com/office/powerpoint/2010/main" val="393089459"/>
      </p:ext>
    </p:extLst>
  </p:cSld>
</p:sld>
</file>

<file path=ppt/slides/slide6.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E01C7B5-1869-44A5-BE06-3FD4AC89A755}"/>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F3A"/>
                </a:solidFill>
                <a:latin typeface="Bitstream Charter"/>
                <a:ea typeface="Bitstream Charter"/>
                <a:cs typeface="Bitstream Charter"/>
              </a:defRPr>
            </a:pPr>
            <a:r>
              <a:rPr sz="3600" b="1">
                <a:solidFill>
                  <a:srgbClr val="233F3A"/>
                </a:solidFill>
                <a:latin typeface="Bitstream Charter"/>
                <a:ea typeface="Bitstream Charter"/>
                <a:cs typeface="Bitstream Charter"/>
              </a:rPr>
              <a:t>Choice during an attention exercise</a:t>
            </a:r>
          </a:p>
        </p:txBody>
      </p:sp>
      <p:graphicFrame>
        <p:nvGraphicFramePr>
          <p:cNvPr id="5"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3333750"/>
                <a:gridCol w="7486650"/>
              </a:tblGrid>
              <a:tr h="714375">
                <a:tc>
                  <a:txBody>
                    <a:bodyPr/>
                    <a:lstStyle/>
                    <a:p>
                      <a:r>
                        <a:rPr sz="2175" b="1">
                          <a:solidFill>
                            <a:srgbClr val="FFFFFF"/>
                          </a:solidFill>
                          <a:latin typeface="Bitstream Charter"/>
                          <a:ea typeface="Bitstream Charter"/>
                          <a:cs typeface="Bitstream Charter"/>
                        </a:rPr>
                        <a:t>Choice</a:t>
                      </a:r>
                    </a:p>
                  </a:txBody>
                  <a:tcPr marL="91440" marR="91440" marT="45720" marB="45720">
                    <a:solidFill>
                      <a:srgbClr val="2F5D5D"/>
                    </a:solidFill>
                  </a:tcPr>
                </a:tc>
                <a:tc>
                  <a:txBody>
                    <a:bodyPr/>
                    <a:lstStyle/>
                    <a:p>
                      <a:r>
                        <a:rPr sz="2175" b="1">
                          <a:solidFill>
                            <a:srgbClr val="FFFFFF"/>
                          </a:solidFill>
                          <a:latin typeface="Bitstream Charter"/>
                          <a:ea typeface="Bitstream Charter"/>
                          <a:cs typeface="Bitstream Charter"/>
                        </a:rPr>
                        <a:t>What it might look like</a:t>
                      </a:r>
                    </a:p>
                  </a:txBody>
                  <a:tcPr marL="91440" marR="91440" marT="45720" marB="45720">
                    <a:solidFill>
                      <a:srgbClr val="2F5D5D"/>
                    </a:solidFill>
                  </a:tcPr>
                </a:tc>
              </a:tr>
              <a:tr h="714375">
                <a:tc>
                  <a:txBody>
                    <a:bodyPr/>
                    <a:lstStyle/>
                    <a:p>
                      <a:r>
                        <a:rPr sz="2175" b="0">
                          <a:solidFill>
                            <a:srgbClr val="233F3A"/>
                          </a:solidFill>
                          <a:latin typeface="Bitstream Charter"/>
                          <a:ea typeface="Bitstream Charter"/>
                          <a:cs typeface="Bitstream Charter"/>
                        </a:rPr>
                        <a:t>Try</a:t>
                      </a:r>
                    </a:p>
                  </a:txBody>
                  <a:tcPr marL="91440" marR="91440" marT="45720" marB="45720">
                    <a:solidFill>
                      <a:srgbClr val="FFFFFF"/>
                    </a:solidFill>
                  </a:tcPr>
                </a:tc>
                <a:tc>
                  <a:txBody>
                    <a:bodyPr/>
                    <a:lstStyle/>
                    <a:p>
                      <a:r>
                        <a:rPr sz="2175" b="0">
                          <a:solidFill>
                            <a:srgbClr val="233F3A"/>
                          </a:solidFill>
                          <a:latin typeface="Bitstream Charter"/>
                          <a:ea typeface="Bitstream Charter"/>
                          <a:cs typeface="Bitstream Charter"/>
                        </a:rPr>
                        <a:t>Notice the color of one ordinary object.</a:t>
                      </a:r>
                    </a:p>
                  </a:txBody>
                  <a:tcPr marL="91440" marR="91440" marT="45720" marB="45720">
                    <a:solidFill>
                      <a:srgbClr val="FFFFFF"/>
                    </a:solidFill>
                  </a:tcPr>
                </a:tc>
              </a:tr>
              <a:tr h="714375">
                <a:tc>
                  <a:txBody>
                    <a:bodyPr/>
                    <a:lstStyle/>
                    <a:p>
                      <a:r>
                        <a:rPr sz="2175" b="0">
                          <a:solidFill>
                            <a:srgbClr val="233F3A"/>
                          </a:solidFill>
                          <a:latin typeface="Bitstream Charter"/>
                          <a:ea typeface="Bitstream Charter"/>
                          <a:cs typeface="Bitstream Charter"/>
                        </a:rPr>
                        <a:t>Change</a:t>
                      </a:r>
                    </a:p>
                  </a:txBody>
                  <a:tcPr marL="91440" marR="91440" marT="45720" marB="45720">
                    <a:solidFill>
                      <a:srgbClr val="FFFFFF"/>
                    </a:solidFill>
                  </a:tcPr>
                </a:tc>
                <a:tc>
                  <a:txBody>
                    <a:bodyPr/>
                    <a:lstStyle/>
                    <a:p>
                      <a:r>
                        <a:rPr sz="2175" b="0">
                          <a:solidFill>
                            <a:srgbClr val="233F3A"/>
                          </a:solidFill>
                          <a:latin typeface="Bitstream Charter"/>
                          <a:ea typeface="Bitstream Charter"/>
                          <a:cs typeface="Bitstream Charter"/>
                        </a:rPr>
                        <a:t>Choose familiar music or a conversation.</a:t>
                      </a:r>
                    </a:p>
                  </a:txBody>
                  <a:tcPr marL="91440" marR="91440" marT="45720" marB="45720">
                    <a:solidFill>
                      <a:srgbClr val="FFFFFF"/>
                    </a:solidFill>
                  </a:tcPr>
                </a:tc>
              </a:tr>
              <a:tr h="714375">
                <a:tc>
                  <a:txBody>
                    <a:bodyPr/>
                    <a:lstStyle/>
                    <a:p>
                      <a:r>
                        <a:rPr sz="2175" b="0">
                          <a:solidFill>
                            <a:srgbClr val="233F3A"/>
                          </a:solidFill>
                          <a:latin typeface="Bitstream Charter"/>
                          <a:ea typeface="Bitstream Charter"/>
                          <a:cs typeface="Bitstream Charter"/>
                        </a:rPr>
                        <a:t>Skip</a:t>
                      </a:r>
                    </a:p>
                  </a:txBody>
                  <a:tcPr marL="91440" marR="91440" marT="45720" marB="45720">
                    <a:solidFill>
                      <a:srgbClr val="FFFFFF"/>
                    </a:solidFill>
                  </a:tcPr>
                </a:tc>
                <a:tc>
                  <a:txBody>
                    <a:bodyPr/>
                    <a:lstStyle/>
                    <a:p>
                      <a:r>
                        <a:rPr sz="2175" b="0">
                          <a:solidFill>
                            <a:srgbClr val="233F3A"/>
                          </a:solidFill>
                          <a:latin typeface="Bitstream Charter"/>
                          <a:ea typeface="Bitstream Charter"/>
                          <a:cs typeface="Bitstream Charter"/>
                        </a:rPr>
                        <a:t>Continue with another activity.</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12342F1-0AD9-45DF-A5B3-8BECA65D22DA}"/>
              </a:ext>
            </a:extLst>
          </p:cNvPr>
          <p:cNvSpPr>
            <a:spLocks xmlns:a="http://schemas.openxmlformats.org/drawingml/2006/main" noGrp="1"/>
          </p:cNvSpPr>
          <p:nvPr/>
        </p:nvSpPr>
        <p:spPr>
          <a:xfrm xmlns:a="http://schemas.openxmlformats.org/drawingml/2006/main">
            <a:off x="723900" y="5238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F3A"/>
                </a:solidFill>
                <a:latin typeface="Bitstream Charter"/>
                <a:ea typeface="Bitstream Charter"/>
                <a:cs typeface="Bitstream Charter"/>
              </a:defRPr>
            </a:pPr>
            <a:r>
              <a:rPr sz="2175" b="0">
                <a:solidFill>
                  <a:srgbClr val="233F3A"/>
                </a:solidFill>
                <a:latin typeface="Bitstream Charter"/>
                <a:ea typeface="Bitstream Charter"/>
                <a:cs typeface="Bitstream Charter"/>
              </a:rPr>
              <a:t>No particular feeling is required. Stop if uncomfortable.</a:t>
            </a:r>
          </a:p>
        </p:txBody>
      </p:sp>
    </p:spTree>
    <p:extLst>
      <p:ext uri="{BB962C8B-B14F-4D97-AF65-F5344CB8AC3E}">
        <p14:creationId xmlns:p14="http://schemas.microsoft.com/office/powerpoint/2010/main" val="1662515049"/>
      </p:ext>
    </p:extLst>
  </p:cSld>
</p:sld>
</file>

<file path=ppt/slides/slide7.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862CE2-E26B-4B7A-AEEE-05FF5877FBEA}"/>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F3A"/>
                </a:solidFill>
                <a:latin typeface="Bitstream Charter"/>
                <a:ea typeface="Bitstream Charter"/>
                <a:cs typeface="Bitstream Charter"/>
              </a:defRPr>
            </a:pPr>
            <a:r>
              <a:rPr sz="3600" b="1">
                <a:solidFill>
                  <a:srgbClr val="233F3A"/>
                </a:solidFill>
                <a:latin typeface="Bitstream Charter"/>
                <a:ea typeface="Bitstream Charter"/>
                <a:cs typeface="Bitstream Charter"/>
              </a:rPr>
              <a:t>A question that checks understanding</a:t>
            </a:r>
          </a:p>
        </p:txBody>
      </p:sp>
      <p:sp>
        <p:nvSpPr>
          <p:cNvPr id="2" name="">
            <a:extLst xmlns:a="http://schemas.openxmlformats.org/drawingml/2006/main">
              <a:ext uri="{FF2B5EF4-FFF2-40B4-BE49-F238E27FC236}">
                <a16:creationId xmlns:a16="http://schemas.microsoft.com/office/drawing/2014/main" id="{68D59EB1-188A-48AE-8E79-F32ED914B0E4}"/>
              </a:ext>
            </a:extLst>
          </p:cNvPr>
          <p:cNvSpPr>
            <a:spLocks xmlns:a="http://schemas.openxmlformats.org/drawingml/2006/main" noGrp="1"/>
          </p:cNvSpPr>
          <p:nvPr/>
        </p:nvSpPr>
        <p:spPr>
          <a:xfrm xmlns:a="http://schemas.openxmlformats.org/drawingml/2006/main">
            <a:off x="723900" y="19050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233F3A"/>
                </a:solidFill>
                <a:latin typeface="Bitstream Charter"/>
                <a:ea typeface="Bitstream Charter"/>
                <a:cs typeface="Bitstream Charter"/>
              </a:defRPr>
            </a:pPr>
            <a:r>
              <a:rPr sz="3000" b="0">
                <a:solidFill>
                  <a:srgbClr val="233F3A"/>
                </a:solidFill>
                <a:latin typeface="Bitstream Charter"/>
                <a:ea typeface="Bitstream Charter"/>
                <a:cs typeface="Bitstream Charter"/>
              </a:rPr>
              <a:t>How would you explain a goal and</a:t>
            </a:r>
          </a:p>
          <a:p xmlns:a="http://schemas.openxmlformats.org/drawingml/2006/main">
            <a:pPr>
              <a:defRPr sz="3000" b="0">
                <a:solidFill>
                  <a:srgbClr val="233F3A"/>
                </a:solidFill>
                <a:latin typeface="Bitstream Charter"/>
                <a:ea typeface="Bitstream Charter"/>
                <a:cs typeface="Bitstream Charter"/>
              </a:defRPr>
            </a:pPr>
            <a:r>
              <a:rPr sz="3000" b="0">
                <a:solidFill>
                  <a:srgbClr val="233F3A"/>
                </a:solidFill>
                <a:latin typeface="Bitstream Charter"/>
                <a:ea typeface="Bitstream Charter"/>
                <a:cs typeface="Bitstream Charter"/>
              </a:rPr>
              <a:t>a next step to someone else?</a:t>
            </a:r>
          </a:p>
        </p:txBody>
      </p:sp>
      <p:sp>
        <p:nvSpPr>
          <p:cNvPr id="3" name="">
            <a:extLst xmlns:a="http://schemas.openxmlformats.org/drawingml/2006/main">
              <a:ext uri="{FF2B5EF4-FFF2-40B4-BE49-F238E27FC236}">
                <a16:creationId xmlns:a16="http://schemas.microsoft.com/office/drawing/2014/main" id="{F156EB11-3B0F-42D3-9738-3FE9DB36A5C5}"/>
              </a:ext>
            </a:extLst>
          </p:cNvPr>
          <p:cNvSpPr>
            <a:spLocks xmlns:a="http://schemas.openxmlformats.org/drawingml/2006/main" noGrp="1"/>
          </p:cNvSpPr>
          <p:nvPr/>
        </p:nvSpPr>
        <p:spPr>
          <a:xfrm xmlns:a="http://schemas.openxmlformats.org/drawingml/2006/main">
            <a:off x="723900" y="38100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33F3A"/>
                </a:solidFill>
                <a:latin typeface="Bitstream Charter"/>
                <a:ea typeface="Bitstream Charter"/>
                <a:cs typeface="Bitstream Charter"/>
              </a:defRPr>
            </a:pPr>
            <a:r>
              <a:rPr sz="2250" b="1">
                <a:solidFill>
                  <a:srgbClr val="233F3A"/>
                </a:solidFill>
                <a:latin typeface="Bitstream Charter"/>
                <a:ea typeface="Bitstream Charter"/>
                <a:cs typeface="Bitstream Charter"/>
              </a:rPr>
              <a:t>Example answer</a:t>
            </a:r>
          </a:p>
        </p:txBody>
      </p:sp>
      <p:sp>
        <p:nvSpPr>
          <p:cNvPr id="4" name="">
            <a:extLst xmlns:a="http://schemas.openxmlformats.org/drawingml/2006/main">
              <a:ext uri="{FF2B5EF4-FFF2-40B4-BE49-F238E27FC236}">
                <a16:creationId xmlns:a16="http://schemas.microsoft.com/office/drawing/2014/main" id="{F551F316-801F-4249-9B0B-D372957C2639}"/>
              </a:ext>
            </a:extLst>
          </p:cNvPr>
          <p:cNvSpPr>
            <a:spLocks xmlns:a="http://schemas.openxmlformats.org/drawingml/2006/main" noGrp="1"/>
          </p:cNvSpPr>
          <p:nvPr/>
        </p:nvSpPr>
        <p:spPr>
          <a:xfrm xmlns:a="http://schemas.openxmlformats.org/drawingml/2006/main">
            <a:off x="723900" y="4572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3F3A"/>
                </a:solidFill>
                <a:latin typeface="Bitstream Charter"/>
                <a:ea typeface="Bitstream Charter"/>
                <a:cs typeface="Bitstream Charter"/>
              </a:defRPr>
            </a:pPr>
            <a:r>
              <a:rPr sz="2550" b="0">
                <a:solidFill>
                  <a:srgbClr val="233F3A"/>
                </a:solidFill>
                <a:latin typeface="Bitstream Charter"/>
                <a:ea typeface="Bitstream Charter"/>
                <a:cs typeface="Bitstream Charter"/>
              </a:rPr>
              <a:t>A goal names the direction.</a:t>
            </a:r>
          </a:p>
          <a:p xmlns:a="http://schemas.openxmlformats.org/drawingml/2006/main">
            <a:pPr>
              <a:defRPr sz="2550" b="0">
                <a:solidFill>
                  <a:srgbClr val="233F3A"/>
                </a:solidFill>
                <a:latin typeface="Bitstream Charter"/>
                <a:ea typeface="Bitstream Charter"/>
                <a:cs typeface="Bitstream Charter"/>
              </a:defRPr>
            </a:pPr>
            <a:r>
              <a:rPr sz="2550" b="0">
                <a:solidFill>
                  <a:srgbClr val="233F3A"/>
                </a:solidFill>
                <a:latin typeface="Bitstream Charter"/>
                <a:ea typeface="Bitstream Charter"/>
                <a:cs typeface="Bitstream Charter"/>
              </a:rPr>
              <a:t>A next step names one action, cue and place.</a:t>
            </a:r>
          </a:p>
        </p:txBody>
      </p:sp>
    </p:spTree>
    <p:extLst>
      <p:ext uri="{BB962C8B-B14F-4D97-AF65-F5344CB8AC3E}">
        <p14:creationId xmlns:p14="http://schemas.microsoft.com/office/powerpoint/2010/main" val="1066594711"/>
      </p:ext>
    </p:extLst>
  </p:cSld>
</p:sld>
</file>

<file path=ppt/slides/slide8.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4EF2D9-F65D-413B-A564-89175AEB4503}"/>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F3A"/>
                </a:solidFill>
                <a:latin typeface="Bitstream Charter"/>
                <a:ea typeface="Bitstream Charter"/>
                <a:cs typeface="Bitstream Charter"/>
              </a:defRPr>
            </a:pPr>
            <a:r>
              <a:rPr sz="3600" b="1">
                <a:solidFill>
                  <a:srgbClr val="233F3A"/>
                </a:solidFill>
                <a:latin typeface="Bitstream Charter"/>
                <a:ea typeface="Bitstream Charter"/>
                <a:cs typeface="Bitstream Charter"/>
              </a:rPr>
              <a:t>Sources and scope</a:t>
            </a:r>
          </a:p>
        </p:txBody>
      </p:sp>
      <p:sp>
        <p:nvSpPr>
          <p:cNvPr id="2" name="">
            <a:extLst xmlns:a="http://schemas.openxmlformats.org/drawingml/2006/main">
              <a:ext uri="{FF2B5EF4-FFF2-40B4-BE49-F238E27FC236}">
                <a16:creationId xmlns:a16="http://schemas.microsoft.com/office/drawing/2014/main" id="{BF08D5D0-E355-41B9-8813-36B057F6E2E9}"/>
              </a:ext>
            </a:extLst>
          </p:cNvPr>
          <p:cNvSpPr>
            <a:spLocks xmlns:a="http://schemas.openxmlformats.org/drawingml/2006/main" noGrp="1"/>
          </p:cNvSpPr>
          <p:nvPr/>
        </p:nvSpPr>
        <p:spPr>
          <a:xfrm xmlns:a="http://schemas.openxmlformats.org/drawingml/2006/main">
            <a:off x="723900" y="18097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33F3A"/>
                </a:solidFill>
                <a:latin typeface="Bitstream Charter"/>
                <a:ea typeface="Bitstream Charter"/>
                <a:cs typeface="Bitstream Charter"/>
              </a:defRPr>
            </a:pPr>
            <a:r>
              <a:rPr sz="2325" b="1">
                <a:solidFill>
                  <a:srgbClr val="233F3A"/>
                </a:solidFill>
                <a:latin typeface="Bitstream Charter"/>
                <a:ea typeface="Bitstream Charter"/>
                <a:cs typeface="Bitstream Charter"/>
              </a:rPr>
              <a:t>NIMH: Caring for Your Mental Health</a:t>
            </a:r>
          </a:p>
          <a:p xmlns:a="http://schemas.openxmlformats.org/drawingml/2006/main">
            <a:pPr>
              <a:defRPr sz="2325" b="1">
                <a:solidFill>
                  <a:srgbClr val="233F3A"/>
                </a:solidFill>
                <a:latin typeface="Bitstream Charter"/>
                <a:ea typeface="Bitstream Charter"/>
                <a:cs typeface="Bitstream Charter"/>
              </a:defRPr>
            </a:pPr>
            <a:r>
              <a:rPr sz="2325" b="1">
                <a:solidFill>
                  <a:srgbClr val="233F3A"/>
                </a:solidFill>
                <a:latin typeface="Bitstream Charter"/>
                <a:ea typeface="Bitstream Charter"/>
                <a:cs typeface="Bitstream Charter"/>
              </a:rPr>
              <a:t>Reviewed April 2026</a:t>
            </a:r>
          </a:p>
        </p:txBody>
      </p:sp>
      <p:sp>
        <p:nvSpPr>
          <p:cNvPr id="3" name="">
            <a:extLst xmlns:a="http://schemas.openxmlformats.org/drawingml/2006/main">
              <a:ext uri="{FF2B5EF4-FFF2-40B4-BE49-F238E27FC236}">
                <a16:creationId xmlns:a16="http://schemas.microsoft.com/office/drawing/2014/main" id="{D1A1CA62-5255-4B4E-951C-B18358FC5658}"/>
              </a:ext>
            </a:extLst>
          </p:cNvPr>
          <p:cNvSpPr>
            <a:spLocks xmlns:a="http://schemas.openxmlformats.org/drawingml/2006/main" noGrp="1"/>
          </p:cNvSpPr>
          <p:nvPr/>
        </p:nvSpPr>
        <p:spPr>
          <a:xfrm xmlns:a="http://schemas.openxmlformats.org/drawingml/2006/main">
            <a:off x="723900" y="2809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33F3A"/>
                </a:solidFill>
                <a:latin typeface="Bitstream Charter"/>
                <a:ea typeface="Bitstream Charter"/>
                <a:cs typeface="Bitstream Charter"/>
              </a:defRPr>
            </a:pPr>
            <a:r>
              <a:rPr sz="1725" b="0">
                <a:solidFill>
                  <a:srgbClr val="233F3A"/>
                </a:solidFill>
                <a:latin typeface="Bitstream Charter"/>
                <a:ea typeface="Bitstream Charter"/>
                <a:cs typeface="Bitstream Charter"/>
              </a:rPr>
              <a:t>nimh.nih.gov/health/topics/caring-for-your-mental-health</a:t>
            </a:r>
          </a:p>
        </p:txBody>
      </p:sp>
      <p:sp>
        <p:nvSpPr>
          <p:cNvPr id="4" name="">
            <a:extLst xmlns:a="http://schemas.openxmlformats.org/drawingml/2006/main">
              <a:ext uri="{FF2B5EF4-FFF2-40B4-BE49-F238E27FC236}">
                <a16:creationId xmlns:a16="http://schemas.microsoft.com/office/drawing/2014/main" id="{C3B1C35F-F57A-47B2-B011-D0EBA8E29342}"/>
              </a:ext>
            </a:extLst>
          </p:cNvPr>
          <p:cNvSpPr>
            <a:spLocks xmlns:a="http://schemas.openxmlformats.org/drawingml/2006/main" noGrp="1"/>
          </p:cNvSpPr>
          <p:nvPr/>
        </p:nvSpPr>
        <p:spPr>
          <a:xfrm xmlns:a="http://schemas.openxmlformats.org/drawingml/2006/main">
            <a:off x="723900" y="37147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33F3A"/>
                </a:solidFill>
                <a:latin typeface="Bitstream Charter"/>
                <a:ea typeface="Bitstream Charter"/>
                <a:cs typeface="Bitstream Charter"/>
              </a:defRPr>
            </a:pPr>
            <a:r>
              <a:rPr sz="2325" b="1">
                <a:solidFill>
                  <a:srgbClr val="233F3A"/>
                </a:solidFill>
                <a:latin typeface="Bitstream Charter"/>
                <a:ea typeface="Bitstream Charter"/>
                <a:cs typeface="Bitstream Charter"/>
              </a:rPr>
              <a:t>NCCIH: Meditation and Mindfulness</a:t>
            </a:r>
          </a:p>
          <a:p xmlns:a="http://schemas.openxmlformats.org/drawingml/2006/main">
            <a:pPr>
              <a:defRPr sz="2325" b="1">
                <a:solidFill>
                  <a:srgbClr val="233F3A"/>
                </a:solidFill>
                <a:latin typeface="Bitstream Charter"/>
                <a:ea typeface="Bitstream Charter"/>
                <a:cs typeface="Bitstream Charter"/>
              </a:defRPr>
            </a:pPr>
            <a:r>
              <a:rPr sz="2325" b="1">
                <a:solidFill>
                  <a:srgbClr val="233F3A"/>
                </a:solidFill>
                <a:latin typeface="Bitstream Charter"/>
                <a:ea typeface="Bitstream Charter"/>
                <a:cs typeface="Bitstream Charter"/>
              </a:rPr>
              <a:t>Effectiveness and Safety</a:t>
            </a:r>
          </a:p>
        </p:txBody>
      </p:sp>
      <p:sp>
        <p:nvSpPr>
          <p:cNvPr id="5" name="">
            <a:extLst xmlns:a="http://schemas.openxmlformats.org/drawingml/2006/main">
              <a:ext uri="{FF2B5EF4-FFF2-40B4-BE49-F238E27FC236}">
                <a16:creationId xmlns:a16="http://schemas.microsoft.com/office/drawing/2014/main" id="{68D455DF-117E-4B50-89D1-CC7565A5384F}"/>
              </a:ext>
            </a:extLst>
          </p:cNvPr>
          <p:cNvSpPr>
            <a:spLocks xmlns:a="http://schemas.openxmlformats.org/drawingml/2006/main" noGrp="1"/>
          </p:cNvSpPr>
          <p:nvPr/>
        </p:nvSpPr>
        <p:spPr>
          <a:xfrm xmlns:a="http://schemas.openxmlformats.org/drawingml/2006/main">
            <a:off x="723900" y="5095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33F3A"/>
                </a:solidFill>
                <a:latin typeface="Bitstream Charter"/>
                <a:ea typeface="Bitstream Charter"/>
                <a:cs typeface="Bitstream Charter"/>
              </a:defRPr>
            </a:pPr>
            <a:r>
              <a:rPr sz="1950" b="0">
                <a:solidFill>
                  <a:srgbClr val="233F3A"/>
                </a:solidFill>
                <a:latin typeface="Bitstream Charter"/>
                <a:ea typeface="Bitstream Charter"/>
                <a:cs typeface="Bitstream Charter"/>
              </a:rPr>
              <a:t>Full source links appear in the speaker notes.</a:t>
            </a:r>
          </a:p>
          <a:p xmlns:a="http://schemas.openxmlformats.org/drawingml/2006/main">
            <a:pPr>
              <a:defRPr sz="1950" b="0">
                <a:solidFill>
                  <a:srgbClr val="233F3A"/>
                </a:solidFill>
                <a:latin typeface="Bitstream Charter"/>
                <a:ea typeface="Bitstream Charter"/>
                <a:cs typeface="Bitstream Charter"/>
              </a:defRPr>
            </a:pPr>
            <a:r>
              <a:rPr sz="1950" b="0">
                <a:solidFill>
                  <a:srgbClr val="233F3A"/>
                </a:solidFill>
                <a:latin typeface="Bitstream Charter"/>
                <a:ea typeface="Bitstream Charter"/>
                <a:cs typeface="Bitstream Charter"/>
              </a:rPr>
              <a:t>Original teaching examples. General education only.</a:t>
            </a:r>
          </a:p>
        </p:txBody>
      </p:sp>
    </p:spTree>
    <p:extLst>
      <p:ext uri="{BB962C8B-B14F-4D97-AF65-F5344CB8AC3E}">
        <p14:creationId xmlns:p14="http://schemas.microsoft.com/office/powerpoint/2010/main" val="21272456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2026-09-12T20:48:37.7730000Z</dcterms:created>
  <dcterms:modified xsi:type="dcterms:W3CDTF">2026-09-12T20:48:37.7730000Z</dcterms:modified>
</coreProperties>
</file>